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5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Mean absolute error by clinical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(years)</c:v>
                </c:pt>
              </c:strCache>
            </c:strRef>
          </c:tx>
          <c:spPr>
            <a:solidFill>
              <a:srgbClr val="2F6B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28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6a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6a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2412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2412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Adult
30-49</c:v>
                  </c:pt>
                  <c:pt idx="1">
                    <c:v>Young adult
18-29</c:v>
                  </c:pt>
                  <c:pt idx="2">
                    <c:v>Paediatric
0-17</c:v>
                  </c:pt>
                  <c:pt idx="3">
                    <c:v>Older adult
50-64</c:v>
                  </c:pt>
                  <c:pt idx="4">
                    <c:v>Geriatric
65+</c:v>
                  </c:pt>
                  <c:pt idx="5">
                    <c:v>90+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4.98</c:v>
                </c:pt>
                <c:pt idx="2">
                  <c:v>6.2</c:v>
                </c:pt>
                <c:pt idx="3">
                  <c:v>7.6</c:v>
                </c:pt>
                <c:pt idx="4">
                  <c:v>12.25</c:v>
                </c:pt>
                <c:pt idx="5">
                  <c:v>15.95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28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MAE (years)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MAE by confidence decile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(years)</c:v>
                </c:pt>
              </c:strCache>
            </c:strRef>
          </c:tx>
          <c:spPr>
            <a:solidFill>
              <a:srgbClr val="B06A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6a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1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1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91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91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1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91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91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91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f6b4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1
least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
most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10.12</c:v>
                </c:pt>
                <c:pt idx="1">
                  <c:v>7.85</c:v>
                </c:pt>
                <c:pt idx="2">
                  <c:v>6.76</c:v>
                </c:pt>
                <c:pt idx="3">
                  <c:v>6.18</c:v>
                </c:pt>
                <c:pt idx="4">
                  <c:v>5.47</c:v>
                </c:pt>
                <c:pt idx="5">
                  <c:v>5.12</c:v>
                </c:pt>
                <c:pt idx="6">
                  <c:v>4.6</c:v>
                </c:pt>
                <c:pt idx="7">
                  <c:v>4.02</c:v>
                </c:pt>
                <c:pt idx="8">
                  <c:v>3.66</c:v>
                </c:pt>
                <c:pt idx="9">
                  <c:v>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Confidence decile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MAE (years)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Stated confidence vs actual coverage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</c:v>
                </c:pt>
              </c:strCache>
            </c:strRef>
          </c:tx>
          <c:spPr>
            <a:solidFill>
              <a:srgbClr val="23282A"/>
            </a:solidFill>
            <a:ln w="38100" cap="flat">
              <a:solidFill>
                <a:srgbClr val="2328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3282A"/>
              </a:solidFill>
              <a:ln w="9525" cap="flat">
                <a:solidFill>
                  <a:srgbClr val="2328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50%</c:v>
                  </c:pt>
                  <c:pt idx="1">
                    <c:v>60%</c:v>
                  </c:pt>
                  <c:pt idx="2">
                    <c:v>70%</c:v>
                  </c:pt>
                  <c:pt idx="3">
                    <c:v>80%</c:v>
                  </c:pt>
                  <c:pt idx="4">
                    <c:v>90%</c:v>
                  </c:pt>
                  <c:pt idx="5">
                    <c:v>95%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52.4</c:v>
                </c:pt>
                <c:pt idx="1">
                  <c:v>61.3</c:v>
                </c:pt>
                <c:pt idx="2">
                  <c:v>70.3</c:v>
                </c:pt>
                <c:pt idx="3">
                  <c:v>79.1</c:v>
                </c:pt>
                <c:pt idx="4">
                  <c:v>88.2</c:v>
                </c:pt>
                <c:pt idx="5">
                  <c:v>93.1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Perfect</c:v>
                </c:pt>
              </c:strCache>
            </c:strRef>
          </c:tx>
          <c:spPr>
            <a:solidFill>
              <a:srgbClr val="2F6B4F"/>
            </a:solidFill>
            <a:ln w="38100" cap="flat">
              <a:solidFill>
                <a:srgbClr val="2F6B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6B4F"/>
              </a:solidFill>
              <a:ln w="9525" cap="flat">
                <a:solidFill>
                  <a:srgbClr val="2F6B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50%</c:v>
                  </c:pt>
                  <c:pt idx="1">
                    <c:v>60%</c:v>
                  </c:pt>
                  <c:pt idx="2">
                    <c:v>70%</c:v>
                  </c:pt>
                  <c:pt idx="3">
                    <c:v>80%</c:v>
                  </c:pt>
                  <c:pt idx="4">
                    <c:v>90%</c:v>
                  </c:pt>
                  <c:pt idx="5">
                    <c:v>95%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  <c:pt idx="5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Stated confidence level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Actual coverage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Error on auto-decided cases as coverage rises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confidence</c:v>
                </c:pt>
              </c:strCache>
            </c:strRef>
          </c:tx>
          <c:spPr>
            <a:solidFill>
              <a:srgbClr val="23282A"/>
            </a:solidFill>
            <a:ln w="38100" cap="flat">
              <a:solidFill>
                <a:srgbClr val="2328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3282A"/>
              </a:solidFill>
              <a:ln w="9525" cap="flat">
                <a:solidFill>
                  <a:srgbClr val="2328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20%</c:v>
                  </c:pt>
                  <c:pt idx="1">
                    <c:v>40%</c:v>
                  </c:pt>
                  <c:pt idx="2">
                    <c:v>60%</c:v>
                  </c:pt>
                  <c:pt idx="3">
                    <c:v>85%</c:v>
                  </c:pt>
                  <c:pt idx="4">
                    <c:v>100%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2.78</c:v>
                </c:pt>
                <c:pt idx="1">
                  <c:v>3.55</c:v>
                </c:pt>
                <c:pt idx="2">
                  <c:v>4.16</c:v>
                </c:pt>
                <c:pt idx="3">
                  <c:v>4.99</c:v>
                </c:pt>
                <c:pt idx="4">
                  <c:v>5.64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Oracle bound</c:v>
                </c:pt>
              </c:strCache>
            </c:strRef>
          </c:tx>
          <c:spPr>
            <a:solidFill>
              <a:srgbClr val="8B918B"/>
            </a:solidFill>
            <a:ln w="38100" cap="flat">
              <a:solidFill>
                <a:srgbClr val="8B91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918B"/>
              </a:solidFill>
              <a:ln w="9525" cap="flat">
                <a:solidFill>
                  <a:srgbClr val="8B91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20%</c:v>
                  </c:pt>
                  <c:pt idx="1">
                    <c:v>40%</c:v>
                  </c:pt>
                  <c:pt idx="2">
                    <c:v>60%</c:v>
                  </c:pt>
                  <c:pt idx="3">
                    <c:v>85%</c:v>
                  </c:pt>
                  <c:pt idx="4">
                    <c:v>100%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0.55</c:v>
                </c:pt>
                <c:pt idx="1">
                  <c:v>1.24</c:v>
                </c:pt>
                <c:pt idx="2">
                  <c:v>2.05</c:v>
                </c:pt>
                <c:pt idx="3">
                  <c:v>3.72</c:v>
                </c:pt>
                <c:pt idx="4">
                  <c:v>5.64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Coverage (share decided without a human)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MAE (years)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MAE within age band, controlling for age composition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Black</c:v>
                </c:pt>
              </c:strCache>
            </c:strRef>
          </c:tx>
          <c:spPr>
            <a:solidFill>
              <a:srgbClr val="A241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0-17</c:v>
                  </c:pt>
                  <c:pt idx="1">
                    <c:v>18-29</c:v>
                  </c:pt>
                  <c:pt idx="2">
                    <c:v>30-49</c:v>
                  </c:pt>
                  <c:pt idx="3">
                    <c:v>50-64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5.29</c:v>
                </c:pt>
                <c:pt idx="1">
                  <c:v>4.02</c:v>
                </c:pt>
                <c:pt idx="2">
                  <c:v>6.71</c:v>
                </c:pt>
                <c:pt idx="3">
                  <c:v>8.6</c:v>
                </c:pt>
                <c:pt idx="4">
                  <c:v>12.01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in band</c:v>
                </c:pt>
              </c:strCache>
            </c:strRef>
          </c:tx>
          <c:spPr>
            <a:solidFill>
              <a:srgbClr val="8B91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0-17</c:v>
                  </c:pt>
                  <c:pt idx="1">
                    <c:v>18-29</c:v>
                  </c:pt>
                  <c:pt idx="2">
                    <c:v>30-49</c:v>
                  </c:pt>
                  <c:pt idx="3">
                    <c:v>50-64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1.42</c:v>
                </c:pt>
                <c:pt idx="1">
                  <c:v>3.27</c:v>
                </c:pt>
                <c:pt idx="2">
                  <c:v>4.75</c:v>
                </c:pt>
                <c:pt idx="3">
                  <c:v>5.53</c:v>
                </c:pt>
                <c:pt idx="4">
                  <c:v>8.45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Age band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MAE (years)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rana/Projekts/NPN/deck/media/groun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88895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 NPN  ·  HEALTHCARE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7950" y="1312962"/>
            <a:ext cx="8290509" cy="642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spcAft>
                <a:spcPts val="1000"/>
              </a:spcAft>
              <a:buNone/>
            </a:pPr>
            <a:r>
              <a:rPr lang="en-US" sz="4600" b="1" dirty="0">
                <a:solidFill>
                  <a:srgbClr val="FFFE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Verification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7950" y="2082403"/>
            <a:ext cx="829050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spcAft>
                <a:spcPts val="1800"/>
              </a:spcAft>
              <a:buNone/>
            </a:pPr>
            <a:r>
              <a:rPr lang="en-US" sz="4200" b="1" dirty="0">
                <a:solidFill>
                  <a:srgbClr val="B06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knows when it is wrong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07950" y="2897684"/>
            <a:ext cx="13969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7950" y="3227784"/>
            <a:ext cx="82905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estimation from a facial image, wrapped in a clinical decision path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7950" y="3504009"/>
            <a:ext cx="82905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human review, calibrated uncertainty, and an audit trail that stores no image.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verification today is documents, or a guess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2599283" cy="1656011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C:/Users/prana/Projekts/NPN/deck/media/ic-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601" y="1419225"/>
            <a:ext cx="330101" cy="3301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601" y="1863626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6601" y="2101751"/>
            <a:ext cx="232762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always available. Forgeable. Intrusive to demand, and excludes people who have none.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72284" y="1260574"/>
            <a:ext cx="2599283" cy="1656011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C:/Users/prana/Projekts/NPN/deck/media/ic-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935" y="1419225"/>
            <a:ext cx="330101" cy="3301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30935" y="1863626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judgement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30935" y="2101751"/>
            <a:ext cx="232762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between assessors, and inconsistent for the same assessor across a shift.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036618" y="1260574"/>
            <a:ext cx="2599283" cy="1656011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C:/Users/prana/Projekts/NPN/deck/media/ic-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268" y="1419225"/>
            <a:ext cx="330101" cy="3301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5268" y="1863626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95268" y="2101751"/>
            <a:ext cx="232762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checks do not scale to a queue, and the cost lands on the patient waiting.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07950" y="3094286"/>
            <a:ext cx="8127950" cy="777776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66601" y="3252936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healthcare the consequences are concrete: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clinical trial eligibility, consent thresholds, age-appropriate dosing. Getting it wrong is a compliance failure or a patient harm, not a poor user experience.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rana/Projekts/NPN/deck/media/groun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3810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EVERYONE MISSES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7950" y="754261"/>
            <a:ext cx="829050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FFFE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 estimate on its own cannot be acted 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7950" y="1821061"/>
            <a:ext cx="3883372" cy="2908697"/>
          </a:xfrm>
          <a:prstGeom prst="rect">
            <a:avLst/>
          </a:prstGeom>
          <a:solidFill>
            <a:srgbClr val="2F3538"/>
          </a:solidFill>
          <a:ln w="19050">
            <a:solidFill>
              <a:srgbClr val="3D44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92051" y="2005161"/>
            <a:ext cx="358547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2051" y="2345978"/>
            <a:ext cx="3585475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FFFE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92051" y="3057079"/>
            <a:ext cx="358547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says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2051" y="3296394"/>
            <a:ext cx="3585475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B06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4721423" y="1986111"/>
            <a:ext cx="382441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FF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error: </a:t>
            </a:r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years.</a:t>
            </a:r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FF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Sounds small.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21423" y="2414736"/>
            <a:ext cx="3824415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5"/>
              </a:lnSpc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eligibility decision has flipped.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721423" y="3266629"/>
            <a:ext cx="3824415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minor has just been classified as an adult. Accuracy metrics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call this a near miss. A clinician calls it a failure.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21423" y="4086076"/>
            <a:ext cx="382441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question is not </a:t>
            </a:r>
            <a:pPr algn="l" indent="0" marL="0">
              <a:lnSpc>
                <a:spcPts val="1885"/>
              </a:lnSpc>
              <a:spcBef>
                <a:spcPts val="800"/>
              </a:spcBef>
              <a:buNone/>
            </a:pPr>
            <a:r>
              <a:rPr lang="en-US" sz="1300" i="1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accurate is it</a:t>
            </a:r>
            <a:pPr algn="l" indent="0" marL="0">
              <a:lnSpc>
                <a:spcPts val="188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</a:t>
            </a:r>
            <a:pPr algn="l" indent="0" marL="0">
              <a:lnSpc>
                <a:spcPts val="1885"/>
              </a:lnSpc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FFF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know when to stop</a:t>
            </a:r>
            <a:pPr algn="l" indent="0" marL="0">
              <a:lnSpc>
                <a:spcPts val="188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 path, not a prediction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8290509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5C6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the small half. What makes it usable is what happens to the number afterwards.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027337"/>
            <a:ext cx="1493639" cy="146238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601" y="2185988"/>
            <a:ext cx="119986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6601" y="2430066"/>
            <a:ext cx="11998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6601" y="2668191"/>
            <a:ext cx="1199864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plus a range and a confidence score.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66640" y="2027337"/>
            <a:ext cx="1493490" cy="146238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25291" y="2185988"/>
            <a:ext cx="119971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25291" y="2430066"/>
            <a:ext cx="11997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band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25291" y="2668191"/>
            <a:ext cx="119971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Paediatric through geriatric, five bands.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25180" y="2027337"/>
            <a:ext cx="1493639" cy="146238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83831" y="2185988"/>
            <a:ext cx="119986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83831" y="2430066"/>
            <a:ext cx="11998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decision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83831" y="2868216"/>
            <a:ext cx="119986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rejected, or undecidable.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3870" y="2027337"/>
            <a:ext cx="1493490" cy="1462385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42521" y="2185988"/>
            <a:ext cx="119971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42521" y="2430066"/>
            <a:ext cx="11997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42521" y="2668191"/>
            <a:ext cx="119971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uncertain, a person decides instead.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42411" y="2027337"/>
            <a:ext cx="1493490" cy="146238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01061" y="2185988"/>
            <a:ext cx="119971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01061" y="2430066"/>
            <a:ext cx="11997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01061" y="2668191"/>
            <a:ext cx="119971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recorded. No image stored.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950" y="3642122"/>
            <a:ext cx="8127950" cy="777776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6601" y="3800773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invariant, enforced in code: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 beats both verified and rejected. An uncertain prediction is never auto-actioned. That is the entire point of the system.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rana/Projekts/NPN/deck/media/groun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1625501"/>
            <a:ext cx="829050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7950" y="2042517"/>
            <a:ext cx="8290509" cy="642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FFFE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engine works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7950" y="2862709"/>
            <a:ext cx="82905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Bef>
                <a:spcPts val="1400"/>
              </a:spcBef>
              <a:buNone/>
            </a:pPr>
            <a:r>
              <a:rPr lang="en-US" sz="15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model, the distribution it predicts, and the rule that sends a case to a human.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EfficientNet-B0, fine-tuned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3886200" cy="300275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015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million parameters.</a:t>
            </a:r>
            <a:pPr algn="l" indent="0" marL="0">
              <a:lnSpc>
                <a:spcPts val="2015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on purpose, so the whole system runs offline on one laptop.</a:t>
            </a:r>
            <a:endParaRPr lang="en-US" sz="1300" dirty="0"/>
          </a:p>
          <a:p>
            <a:pPr algn="l" marL="95250" indent="-95250">
              <a:lnSpc>
                <a:spcPts val="2015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ImageNet, then fine-tuned on faces.</a:t>
            </a:r>
            <a:pPr algn="l" indent="0" marL="0">
              <a:lnSpc>
                <a:spcPts val="2015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network already knows edges, texture and shape, so we only teach it the age-specific part.</a:t>
            </a:r>
            <a:endParaRPr lang="en-US" sz="1300" dirty="0"/>
          </a:p>
          <a:p>
            <a:pPr algn="l" marL="95250" indent="-95250">
              <a:lnSpc>
                <a:spcPts val="2015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 x 224 input, 12 epochs</a:t>
            </a:r>
            <a:pPr algn="l" indent="0" marL="0">
              <a:lnSpc>
                <a:spcPts val="2015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about 50 minutes on a laptop GPU.</a:t>
            </a:r>
            <a:endParaRPr lang="en-US" sz="1300" dirty="0"/>
          </a:p>
          <a:p>
            <a:pPr algn="l" marL="95250" indent="-95250">
              <a:lnSpc>
                <a:spcPts val="2015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from scratch on 167,000 images would have been far worse. Transfer learning is the reason a small model works here.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59201" y="1260574"/>
            <a:ext cx="3810000" cy="1360438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17852" y="1419225"/>
            <a:ext cx="35625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SOMETHING BIGGER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17852" y="1689050"/>
            <a:ext cx="356255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 backbone buys accuracy we are not scored on, and costs the offline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guarantee we are. The bottleneck in this problem is not model capacity, it is knowing when the answer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is untrustworthy.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59201" y="2747963"/>
            <a:ext cx="3810000" cy="973782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17852" y="2906613"/>
            <a:ext cx="35625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ON THE HARDWARE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17852" y="3176439"/>
            <a:ext cx="356255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654 img/s · 4.7 min/epoch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MB checkpoint · 24 ms per prediction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DESIGN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a distribution, not a number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prana/Projekts/NPN/deck/media/diagram-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73373"/>
            <a:ext cx="7620000" cy="24637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50" y="3889474"/>
            <a:ext cx="8127950" cy="777776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6601" y="4048125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published method: </a:t>
            </a:r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Label Distribution Learning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(DLDL, IJCAI 2018). We arrived at it from our own requirements and then found it in the literature, so the choice is defensible rather than improvised.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TRAINS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labels: 34 is nearly right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3981450" cy="1779984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601" y="1419225"/>
            <a:ext cx="37374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A24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NAIVE WAY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6601" y="1689050"/>
            <a:ext cx="3737431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model </a:t>
            </a:r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"35 is correct, every other age is wrong."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6601" y="2225725"/>
            <a:ext cx="37374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prediction of 34 is then penalised exactly as hard as a prediction of 70. The model is never</a:t>
            </a:r>
            <a:endParaRPr lang="en-US" sz="1050" dirty="0"/>
          </a:p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told that age has an order, so it cannot learn to be close.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54451" y="1260574"/>
            <a:ext cx="3981450" cy="1779984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3102" y="1419225"/>
            <a:ext cx="37374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13102" y="1689050"/>
            <a:ext cx="3737431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</a:t>
            </a:r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curve centred on 35.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13102" y="1995487"/>
            <a:ext cx="37374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34 and 36 are nearly right, 40 is somewhat wrong, and 70 is badly wrong. The ordering of</a:t>
            </a:r>
            <a:endParaRPr lang="en-US" sz="1050" dirty="0"/>
          </a:p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age is built into the training signal itself.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950" y="3192959"/>
            <a:ext cx="8127950" cy="1008013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6601" y="3351609"/>
            <a:ext cx="7966862" cy="690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 follows directly from this.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both the prediction and the target are distributions, training means making one match the other. We compute cross-entropy against the soft label, which equals KL-divergence up to a constant.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DISTRIBUTION BUYS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numbers from one forward pass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2599283" cy="1719560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601" y="1419225"/>
            <a:ext cx="23276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THE AVERAGE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6601" y="1688753"/>
            <a:ext cx="232762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66601" y="2196703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 estimate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6601" y="2434828"/>
            <a:ext cx="2327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across all 100 age bins.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72284" y="1260574"/>
            <a:ext cx="2599283" cy="1719560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30935" y="1419225"/>
            <a:ext cx="23276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THE PERCENTILES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30935" y="1688753"/>
            <a:ext cx="2327621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17.5–31.5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30935" y="2120503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80% range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0935" y="2358628"/>
            <a:ext cx="2327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10th and 90th percentile of the same curve.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6618" y="1260574"/>
            <a:ext cx="2599283" cy="1719560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5268" y="1419225"/>
            <a:ext cx="23276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THE SPREAD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95268" y="1688753"/>
            <a:ext cx="232762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95268" y="2196703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confidence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5268" y="2434828"/>
            <a:ext cx="2327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concentrated the curve is, normalised.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950" y="3157835"/>
            <a:ext cx="8127950" cy="777776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6601" y="3316486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outputs a single number gives you only the first of these. The other two are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what the review queue runs on, and there is no way to bolt them on afterwards without ensembles or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 second model.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ROUTING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a case reaches a human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3981450" cy="1897112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601" y="1419225"/>
            <a:ext cx="37374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  LOW CONFIDENCE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6601" y="1689050"/>
            <a:ext cx="3737431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</a:t>
            </a:r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validation confidence distribution.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6601" y="2225725"/>
            <a:ext cx="373743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percentile, not a fixed cutoff. "Below 0.3" is meaningless without knowing how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this model's confidence is actually distributed, so the rule is defined against measured behaviour.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54451" y="1260574"/>
            <a:ext cx="3981450" cy="1897112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3102" y="1419225"/>
            <a:ext cx="373743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  THE RANGE CROSSES A BOUNDARY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13102" y="1908125"/>
            <a:ext cx="3737431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the model is </a:t>
            </a:r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13102" y="2214563"/>
            <a:ext cx="37374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estimate sitting on the age-18 line is still not decisive. This asks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whether the uncertainty threatens the decision, not merely whether it exists.</a:t>
            </a:r>
            <a:endParaRPr lang="en-US" sz="1050" dirty="0"/>
          </a:p>
        </p:txBody>
      </p:sp>
      <p:pic>
        <p:nvPicPr>
          <p:cNvPr id="13" name="Image 0" descr="C:/Users/prana/Projekts/NPN/deck/media/ladder-t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3310086"/>
            <a:ext cx="7620000" cy="1524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6671" y="4897487"/>
            <a:ext cx="829050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3"/>
              </a:lnSpc>
              <a:spcBef>
                <a:spcPts val="200"/>
              </a:spcBef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24.2, range 17.5 to 31.5, crossing the boundaries at 18 and 30.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is wrong, and the system holds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prana/Projekts/NPN/docs/shots/02-verify-teen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47924"/>
            <a:ext cx="4051250" cy="2539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4251" y="1247924"/>
            <a:ext cx="1809750" cy="840879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82902" y="1406575"/>
            <a:ext cx="1522297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AGE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82902" y="1599902"/>
            <a:ext cx="1522297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699052" y="1247924"/>
            <a:ext cx="1809750" cy="840879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57702" y="1406575"/>
            <a:ext cx="1522297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READS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7702" y="1599902"/>
            <a:ext cx="1522297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A24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724251" y="2165003"/>
            <a:ext cx="3784550" cy="1198662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82902" y="2323654"/>
            <a:ext cx="353659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82902" y="2542282"/>
            <a:ext cx="3536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to review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82902" y="2767608"/>
            <a:ext cx="353659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interval_straddles_band_boundary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82902" y="3011686"/>
            <a:ext cx="353659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Masked, in profile. A genuine miss.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7950" y="3889325"/>
            <a:ext cx="8127950" cy="777776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66601" y="4047976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got a minor wrong by seven years and refused to act on it.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 randomly chosen held-out image, not a staged case.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rana/Projekts/NPN/deck/media/groun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1625501"/>
            <a:ext cx="829050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7950" y="2042517"/>
            <a:ext cx="8290509" cy="642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FFFE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is used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7950" y="2862709"/>
            <a:ext cx="82905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Bef>
                <a:spcPts val="1400"/>
              </a:spcBef>
              <a:buNone/>
            </a:pPr>
            <a:r>
              <a:rPr lang="en-US" sz="15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settings where an age boundary carries a clinical or legal consequence.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settings, one shared property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1908274" cy="1928366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C:/Users/prana/Projekts/NPN/deck/media/ic-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601" y="1419225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601" y="1825526"/>
            <a:ext cx="1622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eligibility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6601" y="2063651"/>
            <a:ext cx="1622792" cy="96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candidates against an age-bounded protocol, where enrolling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outside the range invalidates the arm.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81275" y="1260574"/>
            <a:ext cx="1908125" cy="1928366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C:/Users/prana/Projekts/NPN/deck/media/ic-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926" y="1419225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39926" y="1825526"/>
            <a:ext cx="1622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Dosing bands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739926" y="2063651"/>
            <a:ext cx="162264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Paediatric, adult and geriatric dosing differ. The band matters more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than the exact year.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654451" y="1260574"/>
            <a:ext cx="1908274" cy="1928366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C:/Users/prana/Projekts/NPN/deck/media/ic-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102" y="1419225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13102" y="1825526"/>
            <a:ext cx="1622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thresholds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13102" y="2063651"/>
            <a:ext cx="162279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patient can consent for themselves, or needs a guardian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present.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727775" y="1260574"/>
            <a:ext cx="1908125" cy="1928366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C:/Users/prana/Projekts/NPN/deck/media/ic-do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426" y="1419225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86426" y="1825526"/>
            <a:ext cx="1622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Telehealth intake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86426" y="2063651"/>
            <a:ext cx="162264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an age claim remotely when no document is available at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point of contact.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07950" y="3341340"/>
            <a:ext cx="8127950" cy="777776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66601" y="3499991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share: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decision is a band, not a year, and an error near a boundary is far more costly than the same error in the middle of a band. That is precisely the shape our routing rule is built around.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rana/Projekts/NPN/deck/media/groun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1625501"/>
            <a:ext cx="829050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7950" y="2042517"/>
            <a:ext cx="8290509" cy="642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FFFE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is built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7950" y="2862709"/>
            <a:ext cx="82905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Bef>
                <a:spcPts val="1400"/>
              </a:spcBef>
              <a:buNone/>
            </a:pPr>
            <a:r>
              <a:rPr lang="en-US" sz="15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Stack, architecture, and the path a single request takes end to end.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boring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2599283" cy="1741289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C:/Users/prana/Projekts/NPN/deck/media/ic-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601" y="1419225"/>
            <a:ext cx="279350" cy="279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601" y="1800076"/>
            <a:ext cx="23276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6601" y="2069902"/>
            <a:ext cx="232762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2.11 (cu128)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timm — EfficientNet-B0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OpenCV — face detection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Pillow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72284" y="1260574"/>
            <a:ext cx="2599283" cy="1741289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C:/Users/prana/Projekts/NPN/deck/media/ic-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935" y="1419225"/>
            <a:ext cx="279350" cy="2793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30935" y="1800076"/>
            <a:ext cx="23276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30935" y="2069902"/>
            <a:ext cx="232762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3.13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+ Uvicorn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SQLite, stdlib sqlite3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ORM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036618" y="1260574"/>
            <a:ext cx="2599283" cy="1741289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C:/Users/prana/Projekts/NPN/deck/media/ic-re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268" y="1419225"/>
            <a:ext cx="279350" cy="2793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5268" y="1800076"/>
            <a:ext cx="23276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195268" y="2069902"/>
            <a:ext cx="232762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+ TypeScript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Vite, Tailwind v4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self-hosted fonts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router, no state lib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07950" y="3141464"/>
            <a:ext cx="8127950" cy="1264741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66601" y="3300115"/>
            <a:ext cx="7966862" cy="690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deliberately did not add:</a:t>
            </a:r>
            <a:pPr algn="l" indent="0" marL="0">
              <a:lnSpc>
                <a:spcPts val="1813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ORM, no state library, no router, no charting library. Three views and three small plots do not justify the dependencies, and every dependency is something that can fail offline on demo day.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66601" y="4054227"/>
            <a:ext cx="796686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is assert-based selfchecks per module plus a 7-test contract suite. No pytest.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process, one 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prana/Projekts/NPN/deck/media/diagra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73373"/>
            <a:ext cx="8026301" cy="31114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to one image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1908274" cy="152206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601" y="1419225"/>
            <a:ext cx="162279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6601" y="1612553"/>
            <a:ext cx="1622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6601" y="1850678"/>
            <a:ext cx="162279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Multipart POST. Type and size checked before anything else runs.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1275" y="1260574"/>
            <a:ext cx="1908125" cy="152206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39926" y="1419225"/>
            <a:ext cx="16226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39926" y="1612553"/>
            <a:ext cx="1622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Hash, then discard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39926" y="1850678"/>
            <a:ext cx="1622640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taken. The pixels are freed and never written to disk.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54451" y="1260574"/>
            <a:ext cx="1908274" cy="152206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3102" y="1419225"/>
            <a:ext cx="162279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3102" y="1612553"/>
            <a:ext cx="1622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crop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3102" y="1850678"/>
            <a:ext cx="162279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face found means predict on the full frame and force review, never reject.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27775" y="1260574"/>
            <a:ext cx="1908125" cy="152206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86426" y="1419225"/>
            <a:ext cx="16226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86426" y="1612553"/>
            <a:ext cx="1622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86426" y="1850678"/>
            <a:ext cx="1622640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over 100 ages. Decoded to estimate, range, confidence.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950" y="2871490"/>
            <a:ext cx="1908274" cy="1328738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6601" y="3030141"/>
            <a:ext cx="162279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6601" y="3223468"/>
            <a:ext cx="1622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and policy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6601" y="3461593"/>
            <a:ext cx="162279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bands.py maps the estimate to a clinical band and a decision.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81275" y="2871490"/>
            <a:ext cx="1908125" cy="1328738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39926" y="3030141"/>
            <a:ext cx="16226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39926" y="3223468"/>
            <a:ext cx="1622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39926" y="3461593"/>
            <a:ext cx="1622640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 or boundary-crossing cases enter the review queue.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54451" y="2871490"/>
            <a:ext cx="1908274" cy="1328738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13102" y="3030141"/>
            <a:ext cx="162279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3102" y="3223468"/>
            <a:ext cx="1622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13102" y="3461593"/>
            <a:ext cx="162279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Digest, estimate, band, decision, rule and timestamp recorded.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7775" y="2871490"/>
            <a:ext cx="1908125" cy="1328738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86426" y="3030141"/>
            <a:ext cx="16226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86426" y="3223468"/>
            <a:ext cx="1622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6426" y="3461593"/>
            <a:ext cx="1622640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envelope shape, whatever the outcome. Five defined statuses.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950" y="4289078"/>
            <a:ext cx="8127950" cy="703957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66601" y="4447729"/>
            <a:ext cx="796686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status returns the same JSON structure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success, no face, multiple faces, poor quality, service error. Frozen on day one so the frontend could be built while the model trained.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rana/Projekts/NPN/deck/media/groun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1625501"/>
            <a:ext cx="829050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7950" y="2042517"/>
            <a:ext cx="8290509" cy="642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FFFE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evaluation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7950" y="2862709"/>
            <a:ext cx="82905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Bef>
                <a:spcPts val="1400"/>
              </a:spcBef>
              <a:buNone/>
            </a:pPr>
            <a:r>
              <a:rPr lang="en-US" sz="15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measured on 47,568 images the model never saw during training.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Twice as good as guessing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1908274" cy="1313557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601" y="1419225"/>
            <a:ext cx="162279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ABS. ERROR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6601" y="1650653"/>
            <a:ext cx="16227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2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66601" y="2222153"/>
            <a:ext cx="162279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1275" y="1260574"/>
            <a:ext cx="1908125" cy="1313557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39926" y="1419225"/>
            <a:ext cx="16226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39926" y="1650653"/>
            <a:ext cx="16226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200" dirty="0">
                <a:solidFill>
                  <a:srgbClr val="5C6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739926" y="2222153"/>
            <a:ext cx="16226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the average 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54451" y="1260574"/>
            <a:ext cx="1908274" cy="1313557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3102" y="1419225"/>
            <a:ext cx="162279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5 YEARS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3102" y="1650653"/>
            <a:ext cx="16227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2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59.3</a:t>
            </a:r>
            <a:pPr algn="l" indent="0" marL="0">
              <a:lnSpc>
                <a:spcPts val="4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813102" y="2222153"/>
            <a:ext cx="162279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CS@5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27775" y="1260574"/>
            <a:ext cx="1908125" cy="1313557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86426" y="1419225"/>
            <a:ext cx="16226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BAND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86426" y="1650653"/>
            <a:ext cx="16226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2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66.8</a:t>
            </a:r>
            <a:pPr algn="l" indent="0" marL="0">
              <a:lnSpc>
                <a:spcPts val="4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886426" y="2222153"/>
            <a:ext cx="16226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that matters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950" y="2739182"/>
            <a:ext cx="8127950" cy="1190923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6601" y="2897832"/>
            <a:ext cx="7966862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figure is a range: 5.64 to 6.57 years.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6601" y="3191470"/>
            <a:ext cx="796686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is celebrity photography and the publisher split it per image rather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than per person, so the same faces appear in both halves — we confirmed it visually. Excluding test images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that closely resemble training images moves the figure to 6.00, then 6.57. We found this ourselves and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published it rather than quoting the flattering number.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NOT UNIFORM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Per-band error, and why we report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3238449" cy="690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average hides the shape of the failure. Ours is worst exactly where the training data is</a:t>
            </a:r>
            <a:endParaRPr lang="en-US" sz="1250" dirty="0"/>
          </a:p>
          <a:p>
            <a:pPr algn="l" indent="0" marL="0">
              <a:lnSpc>
                <a:spcPts val="1813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thinnest.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7950" y="2027486"/>
            <a:ext cx="3174950" cy="703957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601" y="2186136"/>
            <a:ext cx="291480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Geriatric is 2.5x worse than adult.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90+ sub-band, on 77 test images, is 15.95 years.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832943"/>
            <a:ext cx="3174950" cy="897285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601" y="2991594"/>
            <a:ext cx="291480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defect we hid and were caught on. It is on the results screen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inside the product, with the geriatric row in red.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847951" y="1260574"/>
          <a:ext cx="4648200" cy="29971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CONFIDENCE MEAN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falls at every confidence 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21201" y="1260574"/>
            <a:ext cx="3174950" cy="1360438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79852" y="1419225"/>
            <a:ext cx="29148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79852" y="1689050"/>
            <a:ext cx="291480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wrote the pass mark into the code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training started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it could not be adjusted afterwards to flatter us. There is a commit proving the order.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21201" y="2722513"/>
            <a:ext cx="3174950" cy="703957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79852" y="2881164"/>
            <a:ext cx="291480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to clear: low-confidence predictions at least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1.3x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worse, and error falling consistently.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21201" y="3527971"/>
            <a:ext cx="3174950" cy="1009204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79852" y="3686621"/>
            <a:ext cx="291480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79852" y="3918049"/>
            <a:ext cx="291480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spcBef>
                <a:spcPts val="300"/>
              </a:spcBef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3.89x worse</a:t>
            </a:r>
            <a:pPr algn="l" indent="0" marL="0">
              <a:lnSpc>
                <a:spcPts val="1813"/>
              </a:lnSpc>
              <a:spcBef>
                <a:spcPts val="300"/>
              </a:spcBef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monotonic across </a:t>
            </a:r>
            <a:pPr algn="l" indent="0" marL="0">
              <a:lnSpc>
                <a:spcPts val="1813"/>
              </a:lnSpc>
              <a:spcBef>
                <a:spcPts val="300"/>
              </a:spcBef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ten</a:t>
            </a:r>
            <a:pPr algn="l" indent="0" marL="0">
              <a:lnSpc>
                <a:spcPts val="1813"/>
              </a:lnSpc>
              <a:spcBef>
                <a:spcPts val="300"/>
              </a:spcBef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deciles.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7950" y="1260574"/>
          <a:ext cx="4648200" cy="2946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STRONGER CLAIM THAN 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80% range is right 79.1% of the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3238449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errors correctly is one thing. </a:t>
            </a:r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asks something harder: when the model says 80% confident, is it right 80% of the time?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7950" y="1916757"/>
            <a:ext cx="3174950" cy="897285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601" y="2075408"/>
            <a:ext cx="291480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across all 47,568 images. Worst deviation at any confidence level: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percentage points.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915543"/>
            <a:ext cx="3174950" cy="897285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601" y="3074194"/>
            <a:ext cx="291480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range shown on screen means what it says.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uncertainty it reports is the uncertainty it has.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847951" y="1260574"/>
          <a:ext cx="4648200" cy="2946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QUEUE EARN ITS 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Deferring 15% cuts error by 11.5%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21201" y="1260574"/>
            <a:ext cx="3238449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least confident cases to a human and measure what happens to the error on</a:t>
            </a:r>
            <a:endParaRPr lang="en-US" sz="1050" dirty="0"/>
          </a:p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everything the system still decides by itself.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21201" y="1916757"/>
            <a:ext cx="1504950" cy="891480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79852" y="2075408"/>
            <a:ext cx="121140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CASES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79852" y="2294037"/>
            <a:ext cx="121140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200"/>
              </a:spcBef>
              <a:buNone/>
            </a:pPr>
            <a:r>
              <a:rPr lang="en-US" sz="2800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91201" y="1916757"/>
            <a:ext cx="1504950" cy="891480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9852" y="2075408"/>
            <a:ext cx="121140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 15%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49852" y="2294037"/>
            <a:ext cx="121140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200"/>
              </a:spcBef>
              <a:buNone/>
            </a:pPr>
            <a:r>
              <a:rPr lang="en-US" sz="2800" dirty="0">
                <a:solidFill>
                  <a:srgbClr val="B06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21201" y="2909739"/>
            <a:ext cx="3174950" cy="1090613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79852" y="3068389"/>
            <a:ext cx="291480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standard presentation for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prediction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dashed line is the oracle bound, which is what a perfect ranking of the errors would achieve.</a:t>
            </a:r>
            <a:endParaRPr lang="en-US" sz="10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07950" y="1260574"/>
          <a:ext cx="4648200" cy="2946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PRODUCT, NOT JUST THE DECK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screen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prana/Projekts/NPN/docs/shots/05-model-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47924"/>
            <a:ext cx="5854601" cy="3670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1918" y="1247924"/>
            <a:ext cx="2006501" cy="1670596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90568" y="1406575"/>
            <a:ext cx="1722983" cy="1353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accuracy figures ship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product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including the ones that do not flatter us. The headline MAE carries its caveat directly beneath it, and the geriatric row renders in red.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 WE DID NOT WANT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is less accurate on Black faces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3057043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data has no ethnicity labels, so we tested on </a:t>
            </a:r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UTKFace</a:t>
            </a:r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does — 23,684 images, inference only.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7950" y="1916757"/>
            <a:ext cx="3057043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differ in age composition, and young faces are easier, so raw per-group error is confounded. Comparing </a:t>
            </a:r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age bands</a:t>
            </a:r>
            <a:pPr algn="l" indent="0" marL="0">
              <a:lnSpc>
                <a:spcPts val="1523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removes it.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950" y="2572941"/>
            <a:ext cx="2997101" cy="1090613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601" y="2731591"/>
            <a:ext cx="273339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subjects carry the highest error in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of five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bands. The paediatric row is the serious one: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3.7x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best group, in exactly the band holding the age-18 threshold.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70102" y="1260574"/>
          <a:ext cx="4825901" cy="29971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DOES ABOUT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Containment, and its cost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3981450" cy="2191345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C:/Users/prana/Projekts/NPN/deck/media/ic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601" y="1419225"/>
            <a:ext cx="279350" cy="279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601" y="1800076"/>
            <a:ext cx="37374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DOES CATCH 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6601" y="2069902"/>
            <a:ext cx="373743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fires on </a:t>
            </a:r>
            <a:pPr algn="l" indent="0" marL="0">
              <a:lnSpc>
                <a:spcPts val="1523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pPr algn="l" indent="0" marL="0">
              <a:lnSpc>
                <a:spcPts val="1523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Black subjects, against 7.8% White and 4.1% for the best-served group.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6601" y="2519958"/>
            <a:ext cx="37374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routing order matches the error order exactly, so the cases the model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serves worst are the ones it most often declines to decide alone.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54451" y="1260574"/>
            <a:ext cx="3981450" cy="2191345"/>
          </a:xfrm>
          <a:prstGeom prst="rect">
            <a:avLst/>
          </a:prstGeom>
          <a:solidFill>
            <a:srgbClr val="FFFEFC"/>
          </a:solidFill>
          <a:ln w="19050">
            <a:solidFill>
              <a:srgbClr val="A241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C:/Users/prana/Projekts/NPN/deck/media/ic-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02" y="1419225"/>
            <a:ext cx="279350" cy="2793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3102" y="1800076"/>
            <a:ext cx="37374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A24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IS NOT A FIX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13102" y="2069902"/>
            <a:ext cx="37374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people are then </a:t>
            </a:r>
            <a:pPr algn="l" indent="0" marL="0">
              <a:lnSpc>
                <a:spcPts val="1523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disproportionately subjected to manual review</a:t>
            </a:r>
            <a:pPr algn="l" indent="0" marL="0">
              <a:lnSpc>
                <a:spcPts val="1523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is a worse experience even when the decision is better.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813102" y="2713286"/>
            <a:ext cx="37374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that is less accurate for one group and also slower for that group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has not solved its fairness problem by adding a human.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7950" y="3604320"/>
            <a:ext cx="8127950" cy="777776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66601" y="3762970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Correcting it properly needs training data balanced across skin tones, which the reference dataset cannot provide. </a:t>
            </a:r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reporting a measured limitation, not a solved problem.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Stated by us, not discovered by you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3981450" cy="1135410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601" y="1419225"/>
            <a:ext cx="3737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A24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MAE is optimistic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6601" y="1657350"/>
            <a:ext cx="37374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5.64 to 6.57. Same people on both sides of the split. Unfixable on this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dataset: no identity labels exist, so a per-person split cannot be reconstructed.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54451" y="1260574"/>
            <a:ext cx="3981450" cy="1135410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3102" y="1419225"/>
            <a:ext cx="3737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A24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gap, measured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13102" y="1657350"/>
            <a:ext cx="373743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error on Black faces in four of five age bands. Contained by the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review queue, not corrected.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950" y="2522934"/>
            <a:ext cx="3981450" cy="1135410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6601" y="2681585"/>
            <a:ext cx="3737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A24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6601" y="2919710"/>
            <a:ext cx="37374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 also lists voice and other biometrics. The reference dataset has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neither, so a second modality was scoped out rather than faked.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54451" y="2522934"/>
            <a:ext cx="3981450" cy="1135410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3102" y="2681585"/>
            <a:ext cx="3737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A24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90+ tail is 273 images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3102" y="2919710"/>
            <a:ext cx="373743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face dataset has real volume above 85. It is a structural gap in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the field, not an oversight in our search.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950" y="3785295"/>
            <a:ext cx="8127950" cy="777776"/>
          </a:xfrm>
          <a:prstGeom prst="rect">
            <a:avLst/>
          </a:prstGeom>
          <a:solidFill>
            <a:srgbClr val="F6EAD6"/>
          </a:solidFill>
          <a:ln w="19050">
            <a:solidFill>
              <a:srgbClr val="B0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6601" y="3943945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clinical use.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is a research demonstration. Face-based age estimation carries real bias and consent problems and is not a substitute for a documented date of birth.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MORE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7162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232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would do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0223"/>
            <a:ext cx="939701" cy="50750"/>
          </a:xfrm>
          <a:prstGeom prst="rect">
            <a:avLst/>
          </a:prstGeom>
          <a:solidFill>
            <a:srgbClr val="B06A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0574"/>
            <a:ext cx="2599283" cy="1715393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601" y="1419225"/>
            <a:ext cx="23276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6601" y="1612553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leakage range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6601" y="1850678"/>
            <a:ext cx="2327621" cy="96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identity-tuned face embedding would separate "same person" from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"similar-looking face of the same age", turning 5.64 to 6.57 into a single number.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2284" y="1260574"/>
            <a:ext cx="2599283" cy="1715393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30935" y="1419225"/>
            <a:ext cx="23276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30935" y="1612553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training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30935" y="1850678"/>
            <a:ext cx="232762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real fix for the demographic gap. Needs a corpus balanced across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skin tones, which means new data collection, not resampling.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6618" y="1260574"/>
            <a:ext cx="2599283" cy="1715393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5268" y="1419225"/>
            <a:ext cx="23276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06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5268" y="1612553"/>
            <a:ext cx="2327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prediction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5268" y="1850678"/>
            <a:ext cx="232762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 "empirically 79.1% coverage" to a distribution-free guarantee,</a:t>
            </a: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8B9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retrofittable to the trained model with a calibration set.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950" y="3115568"/>
            <a:ext cx="8127950" cy="777776"/>
          </a:xfrm>
          <a:prstGeom prst="rect">
            <a:avLst/>
          </a:prstGeom>
          <a:solidFill>
            <a:srgbClr val="FFFEFC"/>
          </a:solidFill>
          <a:ln w="19050">
            <a:solidFill>
              <a:srgbClr val="DEDB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6601" y="3274219"/>
            <a:ext cx="796686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we would not do:</a:t>
            </a:r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23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chase a lower headline MAE. The bottleneck in this problem is not accuracy, and a system that is confidently wrong is more dangerous than one that is slightly less precise and knows it.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rana/Projekts/NPN/deck/media/groun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736550"/>
            <a:ext cx="829050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1800"/>
              </a:spcAft>
              <a:buNone/>
            </a:pPr>
            <a:r>
              <a:rPr lang="en-US" sz="12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CLOSING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7950" y="1186011"/>
            <a:ext cx="8290509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spcAft>
                <a:spcPts val="1000"/>
              </a:spcAft>
              <a:buNone/>
            </a:pPr>
            <a:r>
              <a:rPr lang="en-US" sz="3800" b="1" dirty="0">
                <a:solidFill>
                  <a:srgbClr val="FFFE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is wrong sometimes.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07950" y="1843832"/>
            <a:ext cx="8290509" cy="106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spcAft>
                <a:spcPts val="2600"/>
              </a:spcAft>
              <a:buNone/>
            </a:pPr>
            <a:r>
              <a:rPr lang="en-US" sz="3800" b="1" dirty="0">
                <a:solidFill>
                  <a:srgbClr val="B06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matters is that it knows when, and stops.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7950" y="3235672"/>
            <a:ext cx="259069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7950" y="3513088"/>
            <a:ext cx="2590699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model, clinical decision path, review queue, audit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trail, four-view console. One offline process.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12902" y="3235672"/>
            <a:ext cx="259069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12902" y="3513088"/>
            <a:ext cx="2590699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per-band error, calibration, selective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prediction, and demographic fairness. All on held-out data.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17853" y="3235672"/>
            <a:ext cx="259069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0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17853" y="3513088"/>
            <a:ext cx="2590699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limitation above, including the two we found by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8BF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auditing our own benchmark rather than waiting to be asked.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 Verification — Clinical Console</dc:title>
  <dc:subject>Cognizant NPN — healthcare age estimation with human review</dc:subject>
  <dc:creator>LuciferDono</dc:creator>
  <cp:lastModifiedBy>LuciferDono</cp:lastModifiedBy>
  <cp:revision>1</cp:revision>
  <dcterms:created xsi:type="dcterms:W3CDTF">2026-08-19T02:03:56Z</dcterms:created>
  <dcterms:modified xsi:type="dcterms:W3CDTF">2026-08-19T02:03:56Z</dcterms:modified>
</cp:coreProperties>
</file>